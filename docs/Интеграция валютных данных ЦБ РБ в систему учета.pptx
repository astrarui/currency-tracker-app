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9" r:id="rId4"/>
    <p:sldId id="263" r:id="rId5"/>
    <p:sldId id="264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857" autoAdjust="0"/>
  </p:normalViewPr>
  <p:slideViewPr>
    <p:cSldViewPr snapToGrid="0">
      <p:cViewPr varScale="1">
        <p:scale>
          <a:sx n="151" d="100"/>
          <a:sy n="151" d="100"/>
        </p:scale>
        <p:origin x="6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3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1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1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2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5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4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8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0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96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444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0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43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3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81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8B07A-9D10-48A8-89E6-57F4A1E3CF9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AFB0C-E3E2-4171-8F23-96488FCA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87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gif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g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193A4-D5A5-A3BD-7A87-BB828134E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/>
              <a:t>Интеграция валютных данных ЦБ РБ в систему учета 	</a:t>
            </a:r>
            <a:endParaRPr lang="en-US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FEBE65-F8B4-A989-B776-7AC7D06C3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Группа</a:t>
            </a:r>
            <a:r>
              <a:rPr lang="en-US" dirty="0"/>
              <a:t>: </a:t>
            </a:r>
            <a:r>
              <a:rPr lang="ru-RU" dirty="0"/>
              <a:t>9-3 РПО 2023</a:t>
            </a:r>
            <a:r>
              <a:rPr lang="en-US" dirty="0"/>
              <a:t>/</a:t>
            </a:r>
            <a:r>
              <a:rPr lang="ru-RU" dirty="0"/>
              <a:t>1</a:t>
            </a:r>
            <a:endParaRPr lang="en-US" dirty="0"/>
          </a:p>
          <a:p>
            <a:r>
              <a:rPr lang="en-US" dirty="0" err="1"/>
              <a:t>Fullstack</a:t>
            </a:r>
            <a:r>
              <a:rPr lang="en-US" dirty="0"/>
              <a:t>:</a:t>
            </a:r>
            <a:r>
              <a:rPr lang="ru-RU" dirty="0"/>
              <a:t> Якоби Павел</a:t>
            </a:r>
          </a:p>
        </p:txBody>
      </p:sp>
    </p:spTree>
    <p:extLst>
      <p:ext uri="{BB962C8B-B14F-4D97-AF65-F5344CB8AC3E}">
        <p14:creationId xmlns:p14="http://schemas.microsoft.com/office/powerpoint/2010/main" val="402427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A876DD2-CC1B-A974-191F-7F14C664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</a:t>
            </a:r>
            <a:r>
              <a:rPr lang="en-US" dirty="0"/>
              <a:t>/</a:t>
            </a:r>
            <a:r>
              <a:rPr lang="ru-RU" dirty="0"/>
              <a:t> Решение проблемы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098C98D-1BE3-6F2A-6F36-09F64C2116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b="1" dirty="0"/>
              <a:t>Проблема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Курсы валют ежедневно меняются, а ручная проверка на сайте ЦБ РФ неудобна и не подходит для системного учета.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Нужно быстро получать актуальные и исторические данные в удобном интерфейсе, с возможностью анализа динамики.</a:t>
            </a:r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96B390-7DC1-6324-E1E9-27C655010D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b="1" dirty="0"/>
              <a:t>Решение</a:t>
            </a:r>
          </a:p>
          <a:p>
            <a:r>
              <a:rPr lang="ru-RU" dirty="0"/>
              <a:t>автоматически получает курсы валют из API ЦБ РФ;</a:t>
            </a:r>
          </a:p>
          <a:p>
            <a:r>
              <a:rPr lang="ru-RU" dirty="0"/>
              <a:t>сохраняет данные в локальную базу </a:t>
            </a:r>
            <a:r>
              <a:rPr lang="ru-RU" dirty="0" err="1"/>
              <a:t>SQLite</a:t>
            </a:r>
            <a:r>
              <a:rPr lang="ru-RU" dirty="0"/>
              <a:t>;</a:t>
            </a:r>
          </a:p>
          <a:p>
            <a:r>
              <a:rPr lang="ru-RU" dirty="0"/>
              <a:t>предоставляет REST API для фронтенда;</a:t>
            </a:r>
          </a:p>
          <a:p>
            <a:r>
              <a:rPr lang="ru-RU" dirty="0"/>
              <a:t>отображает историю курса на графике и популярные валюты в удобном UI;</a:t>
            </a:r>
          </a:p>
          <a:p>
            <a:r>
              <a:rPr lang="ru-RU" dirty="0"/>
              <a:t>поддерживает дополнительные удобства (переключение темы, ускоренная загрузка за счет кэширования).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4BE6215-350B-8BD6-BDEC-670BA4B92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576147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3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B44ED-CAAB-F3D2-C885-FCBF2F80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технологий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0885E0-C6BC-D3C0-70E1-AD296865D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Языки:</a:t>
            </a:r>
            <a:r>
              <a:rPr lang="ru-RU" dirty="0"/>
              <a:t> </a:t>
            </a:r>
            <a:r>
              <a:rPr lang="en-US" dirty="0"/>
              <a:t>Python 3.1</a:t>
            </a:r>
            <a:r>
              <a:rPr lang="ru-RU" dirty="0"/>
              <a:t>4</a:t>
            </a:r>
            <a:r>
              <a:rPr lang="en-US" dirty="0"/>
              <a:t>, JavaScript</a:t>
            </a:r>
          </a:p>
          <a:p>
            <a:r>
              <a:rPr lang="en-US" b="1" dirty="0"/>
              <a:t>Backend:</a:t>
            </a:r>
            <a:r>
              <a:rPr lang="en-US" dirty="0"/>
              <a:t> 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APScheduler</a:t>
            </a:r>
            <a:endParaRPr lang="en-US" dirty="0"/>
          </a:p>
          <a:p>
            <a:r>
              <a:rPr lang="ru-RU" b="1" dirty="0"/>
              <a:t>База данных:</a:t>
            </a:r>
            <a:r>
              <a:rPr lang="ru-RU" dirty="0"/>
              <a:t> </a:t>
            </a:r>
            <a:r>
              <a:rPr lang="en-US" dirty="0"/>
              <a:t>SQLite</a:t>
            </a:r>
          </a:p>
          <a:p>
            <a:r>
              <a:rPr lang="en-US" b="1" dirty="0"/>
              <a:t>ORM/</a:t>
            </a:r>
            <a:r>
              <a:rPr lang="ru-RU" b="1" dirty="0"/>
              <a:t>миграции:</a:t>
            </a:r>
            <a:r>
              <a:rPr lang="ru-RU" dirty="0"/>
              <a:t> </a:t>
            </a:r>
            <a:r>
              <a:rPr lang="en-US" dirty="0" err="1"/>
              <a:t>SQLAlchemy</a:t>
            </a:r>
            <a:r>
              <a:rPr lang="en-US" dirty="0"/>
              <a:t> (schema metadata), Alembic</a:t>
            </a:r>
          </a:p>
          <a:p>
            <a:r>
              <a:rPr lang="ru-RU" b="1" dirty="0"/>
              <a:t>Интеграция с внешним </a:t>
            </a:r>
            <a:r>
              <a:rPr lang="en-US" b="1" dirty="0"/>
              <a:t>API:</a:t>
            </a:r>
            <a:r>
              <a:rPr lang="en-US" dirty="0"/>
              <a:t> </a:t>
            </a:r>
            <a:r>
              <a:rPr lang="ru-RU" dirty="0"/>
              <a:t>ЦБ РФ (</a:t>
            </a:r>
            <a:r>
              <a:rPr lang="en-US" dirty="0"/>
              <a:t>XML Daily), requests, </a:t>
            </a:r>
            <a:r>
              <a:rPr lang="en-US" dirty="0" err="1"/>
              <a:t>lxml</a:t>
            </a:r>
            <a:endParaRPr lang="en-US" dirty="0"/>
          </a:p>
          <a:p>
            <a:r>
              <a:rPr lang="en-US" b="1" dirty="0"/>
              <a:t>Frontend/UI:</a:t>
            </a:r>
            <a:r>
              <a:rPr lang="en-US" dirty="0"/>
              <a:t> HTML, Tailwind CSS, </a:t>
            </a:r>
            <a:r>
              <a:rPr lang="en-US" dirty="0" err="1"/>
              <a:t>FlyonUI</a:t>
            </a:r>
            <a:r>
              <a:rPr lang="en-US" dirty="0"/>
              <a:t>, Chart.js</a:t>
            </a:r>
          </a:p>
          <a:p>
            <a:r>
              <a:rPr lang="ru-RU" b="1" dirty="0"/>
              <a:t>Инструменты качества:</a:t>
            </a:r>
            <a:r>
              <a:rPr lang="ru-RU" dirty="0"/>
              <a:t> </a:t>
            </a:r>
            <a:r>
              <a:rPr lang="en-US" dirty="0"/>
              <a:t>Ruff</a:t>
            </a:r>
          </a:p>
          <a:p>
            <a:r>
              <a:rPr lang="ru-RU" b="1" dirty="0"/>
              <a:t>Запуск/окружение:</a:t>
            </a:r>
            <a:r>
              <a:rPr lang="ru-RU" dirty="0"/>
              <a:t> </a:t>
            </a:r>
            <a:r>
              <a:rPr lang="en-US" dirty="0" err="1"/>
              <a:t>Uvicorn</a:t>
            </a:r>
            <a:r>
              <a:rPr lang="en-US" dirty="0"/>
              <a:t>, </a:t>
            </a:r>
            <a:r>
              <a:rPr lang="en-US" dirty="0" err="1"/>
              <a:t>uv</a:t>
            </a:r>
            <a:r>
              <a:rPr lang="en-US" dirty="0"/>
              <a:t>, </a:t>
            </a:r>
            <a:r>
              <a:rPr lang="en-US" dirty="0" err="1"/>
              <a:t>npm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417A9F-A517-2F1B-EC0C-63AD6349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576147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31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209A96A-9359-AE37-6002-FF7F089C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Объект 9" descr="PlantUML diagram">
            <a:extLst>
              <a:ext uri="{FF2B5EF4-FFF2-40B4-BE49-F238E27FC236}">
                <a16:creationId xmlns:a16="http://schemas.microsoft.com/office/drawing/2014/main" id="{7AB896BF-7B65-F991-0F67-B0265A4C86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0" y="2336800"/>
            <a:ext cx="3744942" cy="38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Объект 10" descr="PlantUML diagram">
            <a:extLst>
              <a:ext uri="{FF2B5EF4-FFF2-40B4-BE49-F238E27FC236}">
                <a16:creationId xmlns:a16="http://schemas.microsoft.com/office/drawing/2014/main" id="{C80AB6B8-D115-86D7-CE1F-F907216374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673" y="2336800"/>
            <a:ext cx="3828509" cy="38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PlantUML diagram">
            <a:extLst>
              <a:ext uri="{FF2B5EF4-FFF2-40B4-BE49-F238E27FC236}">
                <a16:creationId xmlns:a16="http://schemas.microsoft.com/office/drawing/2014/main" id="{02D35C72-E62D-3608-3E39-6A5D13B43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0" y="753228"/>
            <a:ext cx="9670180" cy="1080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8CDDA3-C67A-1D39-532E-7F2036101252}"/>
              </a:ext>
            </a:extLst>
          </p:cNvPr>
          <p:cNvSpPr txBox="1"/>
          <p:nvPr/>
        </p:nvSpPr>
        <p:spPr>
          <a:xfrm>
            <a:off x="1435100" y="233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Use Case Diagram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FB4B66-77F9-986D-56E4-CB5B9D2230E5}"/>
              </a:ext>
            </a:extLst>
          </p:cNvPr>
          <p:cNvSpPr txBox="1"/>
          <p:nvPr/>
        </p:nvSpPr>
        <p:spPr>
          <a:xfrm>
            <a:off x="7156450" y="61047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Sequence Diagram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538CB5-F863-9A52-F2EE-B72285A0F97C}"/>
              </a:ext>
            </a:extLst>
          </p:cNvPr>
          <p:cNvSpPr txBox="1"/>
          <p:nvPr/>
        </p:nvSpPr>
        <p:spPr>
          <a:xfrm>
            <a:off x="3421063" y="1716151"/>
            <a:ext cx="662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Database Schema (ER)</a:t>
            </a:r>
            <a:endParaRPr lang="en-US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91B3B6B2-CD62-92A1-1374-978D3B188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576147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71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9A8BF6-14E2-B519-BEE4-50930252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проекта</a:t>
            </a:r>
            <a:endParaRPr lang="en-US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3401BE6-5935-A78F-1E4D-2A5BA12E2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5542" y="2089222"/>
            <a:ext cx="5608638" cy="21264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4CB8E2-7992-4237-3123-1A190A60A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542" y="4337122"/>
            <a:ext cx="5608638" cy="21264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2885F8-EC89-4DE4-A8A0-5294CA17F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2309560"/>
            <a:ext cx="9931400" cy="3626629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F9A0354-A3C6-850F-0A0C-57F38E040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576147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42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18325E7-4072-689D-0E7A-FF7251BCE84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60598638"/>
              </p:ext>
            </p:extLst>
          </p:nvPr>
        </p:nvGraphicFramePr>
        <p:xfrm>
          <a:off x="57150" y="590880"/>
          <a:ext cx="1045845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9225">
                  <a:extLst>
                    <a:ext uri="{9D8B030D-6E8A-4147-A177-3AD203B41FA5}">
                      <a16:colId xmlns:a16="http://schemas.microsoft.com/office/drawing/2014/main" val="706253126"/>
                    </a:ext>
                  </a:extLst>
                </a:gridCol>
                <a:gridCol w="5229225">
                  <a:extLst>
                    <a:ext uri="{9D8B030D-6E8A-4147-A177-3AD203B41FA5}">
                      <a16:colId xmlns:a16="http://schemas.microsoft.com/office/drawing/2014/main" val="325420115"/>
                    </a:ext>
                  </a:extLst>
                </a:gridCol>
              </a:tblGrid>
              <a:tr h="305270">
                <a:tc>
                  <a:txBody>
                    <a:bodyPr/>
                    <a:lstStyle/>
                    <a:p>
                      <a:r>
                        <a:rPr lang="ru-RU" dirty="0"/>
                        <a:t>Участник</a:t>
                      </a:r>
                      <a:r>
                        <a:rPr lang="en-US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Якоби Павел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33362"/>
                  </a:ext>
                </a:extLst>
              </a:tr>
              <a:tr h="305270">
                <a:tc>
                  <a:txBody>
                    <a:bodyPr/>
                    <a:lstStyle/>
                    <a:p>
                      <a:r>
                        <a:rPr lang="ru-RU" dirty="0"/>
                        <a:t>Роль</a:t>
                      </a:r>
                      <a:r>
                        <a:rPr lang="en-US" dirty="0"/>
                        <a:t>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Frontend, Backend, DevOps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094820"/>
                  </a:ext>
                </a:extLst>
              </a:tr>
              <a:tr h="763176">
                <a:tc>
                  <a:txBody>
                    <a:bodyPr/>
                    <a:lstStyle/>
                    <a:p>
                      <a:r>
                        <a:rPr lang="ru-RU" dirty="0"/>
                        <a:t>Вклад</a:t>
                      </a:r>
                      <a:r>
                        <a:rPr lang="en-US" dirty="0"/>
                        <a:t>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Спроектировал архитектуру приложения и структуру проекта.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083766"/>
                  </a:ext>
                </a:extLst>
              </a:tr>
              <a:tr h="9921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Реализовал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API-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эндпоинты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синхронизацию курсов с ЦБ РФ, работу с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обработку ошибок, метаданные синхронизации.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182626"/>
                  </a:ext>
                </a:extLst>
              </a:tr>
              <a:tr h="9921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Реализовал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-интерфейс: карточки валют, график динамики, список популярных валют, переключение темы (Light/Dark).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273272"/>
                  </a:ext>
                </a:extLst>
              </a:tr>
              <a:tr h="76317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Подготовил документацию проекта: README, UML-диаграммы, листинги ключевого кода.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441499"/>
                  </a:ext>
                </a:extLst>
              </a:tr>
            </a:tbl>
          </a:graphicData>
        </a:graphic>
      </p:graphicFrame>
      <p:pic>
        <p:nvPicPr>
          <p:cNvPr id="13" name="Picture 2">
            <a:extLst>
              <a:ext uri="{FF2B5EF4-FFF2-40B4-BE49-F238E27FC236}">
                <a16:creationId xmlns:a16="http://schemas.microsoft.com/office/drawing/2014/main" id="{AC620CC3-0D52-F039-A496-BCB085144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590880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34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34D11-A90C-DE4F-29CC-0E5F3235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 рамках практики был разработан полнофункциональный прототип системы мониторинга валютных курсов </a:t>
            </a:r>
            <a:r>
              <a:rPr lang="ru-RU" b="1" dirty="0" err="1"/>
              <a:t>Currency</a:t>
            </a:r>
            <a:r>
              <a:rPr lang="ru-RU" b="1" dirty="0"/>
              <a:t> </a:t>
            </a:r>
            <a:r>
              <a:rPr lang="ru-RU" b="1" dirty="0" err="1"/>
              <a:t>Tracker</a:t>
            </a:r>
            <a:r>
              <a:rPr lang="ru-RU" dirty="0"/>
              <a:t> с интеграцией данных ЦБ РФ.</a:t>
            </a:r>
            <a:br>
              <a:rPr lang="ru-RU" dirty="0"/>
            </a:br>
            <a:r>
              <a:rPr lang="ru-RU" dirty="0"/>
              <a:t>Проект охватывает полный цикл: получение внешних данных, их обработка и хранение, предоставление через API и визуализация в удобном пользовательском интерфейсе.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784BBC-D9F0-8807-1C62-7FCC94567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Итог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6B0E94-22A7-5235-2B5D-42BFEF9BA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4539459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72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639B8-E1C4-92B2-604B-20A6AB29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внимание.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4A4BD8-19CB-2386-35FD-45A689DE4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r"/>
            <a:r>
              <a:rPr lang="ru-RU" dirty="0"/>
              <a:t> </a:t>
            </a:r>
            <a:r>
              <a:rPr lang="en-US" dirty="0"/>
              <a:t>QR-CODE</a:t>
            </a:r>
            <a:r>
              <a:rPr lang="ru-RU" dirty="0"/>
              <a:t> на репозиторий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57917C-29CA-9790-0317-3C1659B36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0" y="4539459"/>
            <a:ext cx="1612900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03933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37</TotalTime>
  <Words>319</Words>
  <Application>Microsoft Office PowerPoint</Application>
  <PresentationFormat>Широкоэкранный</PresentationFormat>
  <Paragraphs>38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Берлин</vt:lpstr>
      <vt:lpstr>Интеграция валютных данных ЦБ РБ в систему учета  </vt:lpstr>
      <vt:lpstr>Проблема / Решение проблемы</vt:lpstr>
      <vt:lpstr>Стек технологий</vt:lpstr>
      <vt:lpstr>Презентация PowerPoint</vt:lpstr>
      <vt:lpstr>Демонстрация проекта</vt:lpstr>
      <vt:lpstr>Презентация PowerPoint</vt:lpstr>
      <vt:lpstr>В рамках практики был разработан полнофункциональный прототип системы мониторинга валютных курсов Currency Tracker с интеграцией данных ЦБ РФ. Проект охватывает полный цикл: получение внешних данных, их обработка и хранение, предоставление через API и визуализация в удобном пользовательском интерфейсе.</vt:lpstr>
      <vt:lpstr>Спасибо за внимание.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Павел Якоби</dc:creator>
  <cp:lastModifiedBy>Павел Якоби</cp:lastModifiedBy>
  <cp:revision>1</cp:revision>
  <dcterms:created xsi:type="dcterms:W3CDTF">2026-04-29T18:16:34Z</dcterms:created>
  <dcterms:modified xsi:type="dcterms:W3CDTF">2026-04-29T18:54:22Z</dcterms:modified>
</cp:coreProperties>
</file>